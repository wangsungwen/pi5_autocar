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51b537c4142f4" /><Relationship Type="http://schemas.openxmlformats.org/officeDocument/2006/relationships/extended-properties" Target="/docProps/app.xml" Id="R9d8b72c2be9a4911" /><Relationship Type="http://schemas.openxmlformats.org/officeDocument/2006/relationships/officeDocument" Target="/ppt/presentation.xml" Id="R44dbd6c035fa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3a446a9c944e8"/>
  </p:sldMasterIdLst>
  <p:notesMasterIdLst>
    <p:notesMasterId xmlns:r="http://schemas.openxmlformats.org/officeDocument/2006/relationships" r:id="R13049946dc094a4d"/>
  </p:notesMasterIdLst>
  <p:sldIdLst>
    <p:sldId xmlns:r="http://schemas.openxmlformats.org/officeDocument/2006/relationships" id="256" r:id="Rbd8135404be24a3d"/>
    <p:sldId xmlns:r="http://schemas.openxmlformats.org/officeDocument/2006/relationships" id="257" r:id="R8b819f5b951647e3"/>
    <p:sldId xmlns:r="http://schemas.openxmlformats.org/officeDocument/2006/relationships" id="258" r:id="Rdc33ef58f50c4ed3"/>
    <p:sldId xmlns:r="http://schemas.openxmlformats.org/officeDocument/2006/relationships" id="259" r:id="Rc1a4344a49e14649"/>
    <p:sldId xmlns:r="http://schemas.openxmlformats.org/officeDocument/2006/relationships" id="260" r:id="Rcf99e18d385d4548"/>
    <p:sldId xmlns:r="http://schemas.openxmlformats.org/officeDocument/2006/relationships" id="261" r:id="R9006c5b7a1184c44"/>
    <p:sldId xmlns:r="http://schemas.openxmlformats.org/officeDocument/2006/relationships" id="262" r:id="R43bd603f141f40b8"/>
    <p:sldId xmlns:r="http://schemas.openxmlformats.org/officeDocument/2006/relationships" id="263" r:id="R5ea7e529cc074472"/>
    <p:sldId xmlns:r="http://schemas.openxmlformats.org/officeDocument/2006/relationships" id="264" r:id="R9f1bdebc956b4c06"/>
    <p:sldId xmlns:r="http://schemas.openxmlformats.org/officeDocument/2006/relationships" id="265" r:id="Rc9407052faa3407d"/>
    <p:sldId xmlns:r="http://schemas.openxmlformats.org/officeDocument/2006/relationships" id="266" r:id="R592d231aa8b74e9f"/>
    <p:sldId xmlns:r="http://schemas.openxmlformats.org/officeDocument/2006/relationships" id="267" r:id="Rac6212f6967449b8"/>
    <p:sldId xmlns:r="http://schemas.openxmlformats.org/officeDocument/2006/relationships" id="268" r:id="R00e6cf4831ee489b"/>
    <p:sldId xmlns:r="http://schemas.openxmlformats.org/officeDocument/2006/relationships" id="269" r:id="R59e4b795706041a4"/>
    <p:sldId xmlns:r="http://schemas.openxmlformats.org/officeDocument/2006/relationships" id="270" r:id="Ra700cd48c3554ef3"/>
    <p:sldId xmlns:r="http://schemas.openxmlformats.org/officeDocument/2006/relationships" id="271" r:id="R9036fd18e71540ac"/>
    <p:sldId xmlns:r="http://schemas.openxmlformats.org/officeDocument/2006/relationships" id="272" r:id="R6a4e33f159b24851"/>
    <p:sldId xmlns:r="http://schemas.openxmlformats.org/officeDocument/2006/relationships" id="273" r:id="Rd8d88f9de9394ed7"/>
    <p:sldId xmlns:r="http://schemas.openxmlformats.org/officeDocument/2006/relationships" id="274" r:id="R5105e42b32fb4c07"/>
    <p:sldId xmlns:r="http://schemas.openxmlformats.org/officeDocument/2006/relationships" id="275" r:id="R84c96a4960154a47"/>
    <p:sldId xmlns:r="http://schemas.openxmlformats.org/officeDocument/2006/relationships" id="276" r:id="R86e777155e9e4c4d"/>
    <p:sldId xmlns:r="http://schemas.openxmlformats.org/officeDocument/2006/relationships" id="277" r:id="R864eb89dc4bb44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2ba0a9fbd345ac" /><Relationship Type="http://schemas.openxmlformats.org/officeDocument/2006/relationships/slideMaster" Target="/ppt/slideMasters/slideMaster1.xml" Id="R1fb3a446a9c944e8" /><Relationship Type="http://schemas.openxmlformats.org/officeDocument/2006/relationships/notesMaster" Target="/ppt/notesMasters/notesMaster1.xml" Id="R13049946dc094a4d" /><Relationship Type="http://schemas.openxmlformats.org/officeDocument/2006/relationships/presProps" Target="/ppt/presProps.xml" Id="R6ca8ca7120b04163" /><Relationship Type="http://schemas.openxmlformats.org/officeDocument/2006/relationships/tableStyles" Target="/ppt/tableStyles.xml" Id="R4a0ab7e600374e7f" /><Relationship Type="http://schemas.openxmlformats.org/officeDocument/2006/relationships/slide" Target="/ppt/slides/slide1.xml" Id="Rbd8135404be24a3d" /><Relationship Type="http://schemas.openxmlformats.org/officeDocument/2006/relationships/slide" Target="/ppt/slides/slide2.xml" Id="R8b819f5b951647e3" /><Relationship Type="http://schemas.openxmlformats.org/officeDocument/2006/relationships/slide" Target="/ppt/slides/slide3.xml" Id="Rdc33ef58f50c4ed3" /><Relationship Type="http://schemas.openxmlformats.org/officeDocument/2006/relationships/slide" Target="/ppt/slides/slide4.xml" Id="Rc1a4344a49e14649" /><Relationship Type="http://schemas.openxmlformats.org/officeDocument/2006/relationships/slide" Target="/ppt/slides/slide5.xml" Id="Rcf99e18d385d4548" /><Relationship Type="http://schemas.openxmlformats.org/officeDocument/2006/relationships/slide" Target="/ppt/slides/slide6.xml" Id="R9006c5b7a1184c44" /><Relationship Type="http://schemas.openxmlformats.org/officeDocument/2006/relationships/slide" Target="/ppt/slides/slide7.xml" Id="R43bd603f141f40b8" /><Relationship Type="http://schemas.openxmlformats.org/officeDocument/2006/relationships/slide" Target="/ppt/slides/slide8.xml" Id="R5ea7e529cc074472" /><Relationship Type="http://schemas.openxmlformats.org/officeDocument/2006/relationships/slide" Target="/ppt/slides/slide9.xml" Id="R9f1bdebc956b4c06" /><Relationship Type="http://schemas.openxmlformats.org/officeDocument/2006/relationships/slide" Target="/ppt/slides/slide10.xml" Id="Rc9407052faa3407d" /><Relationship Type="http://schemas.openxmlformats.org/officeDocument/2006/relationships/slide" Target="/ppt/slides/slide11.xml" Id="R592d231aa8b74e9f" /><Relationship Type="http://schemas.openxmlformats.org/officeDocument/2006/relationships/slide" Target="/ppt/slides/slide12.xml" Id="Rac6212f6967449b8" /><Relationship Type="http://schemas.openxmlformats.org/officeDocument/2006/relationships/slide" Target="/ppt/slides/slide13.xml" Id="R00e6cf4831ee489b" /><Relationship Type="http://schemas.openxmlformats.org/officeDocument/2006/relationships/slide" Target="/ppt/slides/slide14.xml" Id="R59e4b795706041a4" /><Relationship Type="http://schemas.openxmlformats.org/officeDocument/2006/relationships/slide" Target="/ppt/slides/slide15.xml" Id="Ra700cd48c3554ef3" /><Relationship Type="http://schemas.openxmlformats.org/officeDocument/2006/relationships/slide" Target="/ppt/slides/slide16.xml" Id="R9036fd18e71540ac" /><Relationship Type="http://schemas.openxmlformats.org/officeDocument/2006/relationships/slide" Target="/ppt/slides/slide17.xml" Id="R6a4e33f159b24851" /><Relationship Type="http://schemas.openxmlformats.org/officeDocument/2006/relationships/slide" Target="/ppt/slides/slide18.xml" Id="Rd8d88f9de9394ed7" /><Relationship Type="http://schemas.openxmlformats.org/officeDocument/2006/relationships/slide" Target="/ppt/slides/slide19.xml" Id="R5105e42b32fb4c07" /><Relationship Type="http://schemas.openxmlformats.org/officeDocument/2006/relationships/slide" Target="/ppt/slides/slide20.xml" Id="R84c96a4960154a47" /><Relationship Type="http://schemas.openxmlformats.org/officeDocument/2006/relationships/slide" Target="/ppt/slides/slide21.xml" Id="R86e777155e9e4c4d" /><Relationship Type="http://schemas.openxmlformats.org/officeDocument/2006/relationships/slide" Target="/ppt/slides/slide22.xml" Id="R864eb89dc4bb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89dbbec85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5490e454cb449d" /><Relationship Type="http://schemas.openxmlformats.org/officeDocument/2006/relationships/notesMaster" Target="/ppt/notesMasters/notesMaster1.xml" Id="Rf764e6e5983248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1d4c9d6a74cef" /><Relationship Type="http://schemas.openxmlformats.org/officeDocument/2006/relationships/notesMaster" Target="/ppt/notesMasters/notesMaster1.xml" Id="R7ce878bef172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0726d8f4d49ef" /><Relationship Type="http://schemas.openxmlformats.org/officeDocument/2006/relationships/notesMaster" Target="/ppt/notesMasters/notesMaster1.xml" Id="Rb36e7d9bb0674f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3b18130a7402e" /><Relationship Type="http://schemas.openxmlformats.org/officeDocument/2006/relationships/notesMaster" Target="/ppt/notesMasters/notesMaster1.xml" Id="R45da51ab404c4b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53f1b2e5b46cc" /><Relationship Type="http://schemas.openxmlformats.org/officeDocument/2006/relationships/notesMaster" Target="/ppt/notesMasters/notesMaster1.xml" Id="Re93c761178d24a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a227519bb14e03" /><Relationship Type="http://schemas.openxmlformats.org/officeDocument/2006/relationships/notesMaster" Target="/ppt/notesMasters/notesMaster1.xml" Id="Rd12c98f7cb3c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1b006ef47c44a2" /><Relationship Type="http://schemas.openxmlformats.org/officeDocument/2006/relationships/notesMaster" Target="/ppt/notesMasters/notesMaster1.xml" Id="Rd3e566ff8fe84d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0f5204ad674d16" /><Relationship Type="http://schemas.openxmlformats.org/officeDocument/2006/relationships/notesMaster" Target="/ppt/notesMasters/notesMaster1.xml" Id="R2b0e954441ea49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d788606fa1418a" /><Relationship Type="http://schemas.openxmlformats.org/officeDocument/2006/relationships/notesMaster" Target="/ppt/notesMasters/notesMaster1.xml" Id="R239b27d119e5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945a856ad74641" /><Relationship Type="http://schemas.openxmlformats.org/officeDocument/2006/relationships/notesMaster" Target="/ppt/notesMasters/notesMaster1.xml" Id="R71f9b203a76549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d1a797f50f4b29" /><Relationship Type="http://schemas.openxmlformats.org/officeDocument/2006/relationships/notesMaster" Target="/ppt/notesMasters/notesMaster1.xml" Id="R5845a1677a0a47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68ab0cf5b84d20" /><Relationship Type="http://schemas.openxmlformats.org/officeDocument/2006/relationships/notesMaster" Target="/ppt/notesMasters/notesMaster1.xml" Id="R573ec0d1c14542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56bffafc2d4faf" /><Relationship Type="http://schemas.openxmlformats.org/officeDocument/2006/relationships/notesMaster" Target="/ppt/notesMasters/notesMaster1.xml" Id="R3bbf0bc78b9e4c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38a697c2f54fa5" /><Relationship Type="http://schemas.openxmlformats.org/officeDocument/2006/relationships/notesMaster" Target="/ppt/notesMasters/notesMaster1.xml" Id="R37ae0194a8664d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100354cd05467d" /><Relationship Type="http://schemas.openxmlformats.org/officeDocument/2006/relationships/notesMaster" Target="/ppt/notesMasters/notesMaster1.xml" Id="Ra4091d43c8c345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2deb90435c41c6" /><Relationship Type="http://schemas.openxmlformats.org/officeDocument/2006/relationships/notesMaster" Target="/ppt/notesMasters/notesMaster1.xml" Id="R9e6f41af3fed41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f07601cb164123" /><Relationship Type="http://schemas.openxmlformats.org/officeDocument/2006/relationships/notesMaster" Target="/ppt/notesMasters/notesMaster1.xml" Id="R980183098cdf42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a724495d594194" /><Relationship Type="http://schemas.openxmlformats.org/officeDocument/2006/relationships/notesMaster" Target="/ppt/notesMasters/notesMaster1.xml" Id="R19255b20e13a4b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bc6d87a0ab4238" /><Relationship Type="http://schemas.openxmlformats.org/officeDocument/2006/relationships/notesMaster" Target="/ppt/notesMasters/notesMaster1.xml" Id="Rb5e15706f6074a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939f6b6a494900" /><Relationship Type="http://schemas.openxmlformats.org/officeDocument/2006/relationships/notesMaster" Target="/ppt/notesMasters/notesMaster1.xml" Id="R874e73ff9df84b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a9fc875d4d42f2" /><Relationship Type="http://schemas.openxmlformats.org/officeDocument/2006/relationships/notesMaster" Target="/ppt/notesMasters/notesMaster1.xml" Id="R13eb871cc26d4a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6d5c91e7174bdb" /><Relationship Type="http://schemas.openxmlformats.org/officeDocument/2006/relationships/notesMaster" Target="/ppt/notesMasters/notesMaster1.xml" Id="Rf0135c002ab54b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整合原教案的 Local Script 到 Web 操作順序，以及 RPI5 AutoCAR YOLO26 程式包與部署教材。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9aad6efa2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43d27a30364ee2" /><Relationship Type="http://schemas.openxmlformats.org/officeDocument/2006/relationships/slideLayout" Target="/ppt/slideLayouts/slideLayout1.xml" Id="R4ec1b61250a4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1b61250a4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1c839004c4220" /><Relationship Type="http://schemas.openxmlformats.org/officeDocument/2006/relationships/image" Target="/ppt/media/image.png" Id="Rb44620dbb74f4ad7" /><Relationship Type="http://schemas.openxmlformats.org/officeDocument/2006/relationships/notesSlide" Target="/ppt/notesSlides/notesSlide1.xml" Id="Rc380de7448ec4b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11ef40b9243f5" /><Relationship Type="http://schemas.openxmlformats.org/officeDocument/2006/relationships/notesSlide" Target="/ppt/notesSlides/notesSlide2.xml" Id="R61fad66c357241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38f57104b4dad" /><Relationship Type="http://schemas.openxmlformats.org/officeDocument/2006/relationships/image" Target="/ppt/media/image2.png" Id="Re3cb2a82467342ed" /><Relationship Type="http://schemas.openxmlformats.org/officeDocument/2006/relationships/notesSlide" Target="/ppt/notesSlides/notesSlide3.xml" Id="Rede7ad1835e04e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f9219223b4efe" /><Relationship Type="http://schemas.openxmlformats.org/officeDocument/2006/relationships/notesSlide" Target="/ppt/notesSlides/notesSlide4.xml" Id="R2ef644771e424a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c03c0e042428f" /><Relationship Type="http://schemas.openxmlformats.org/officeDocument/2006/relationships/notesSlide" Target="/ppt/notesSlides/notesSlide5.xml" Id="R21f1e273844645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3808c4b9f47e8" /><Relationship Type="http://schemas.openxmlformats.org/officeDocument/2006/relationships/notesSlide" Target="/ppt/notesSlides/notesSlide6.xml" Id="R7c309552fff7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e3cc4fe9f42b4" /><Relationship Type="http://schemas.openxmlformats.org/officeDocument/2006/relationships/notesSlide" Target="/ppt/notesSlides/notesSlide7.xml" Id="Rfc8d7f2e39e949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e32f3adb847cf" /><Relationship Type="http://schemas.openxmlformats.org/officeDocument/2006/relationships/notesSlide" Target="/ppt/notesSlides/notesSlide8.xml" Id="R6c381737033d49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592a633b84bf6" /><Relationship Type="http://schemas.openxmlformats.org/officeDocument/2006/relationships/notesSlide" Target="/ppt/notesSlides/notesSlide9.xml" Id="Re6c02aba2ce8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c20f6aaf245b6" /><Relationship Type="http://schemas.openxmlformats.org/officeDocument/2006/relationships/notesSlide" Target="/ppt/notesSlides/notesSlide10.xml" Id="R53a5661efbc349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a1cf7581b4897" /><Relationship Type="http://schemas.openxmlformats.org/officeDocument/2006/relationships/notesSlide" Target="/ppt/notesSlides/notesSlide11.xml" Id="R1c8c5d12acc848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091fc73f74963" /><Relationship Type="http://schemas.openxmlformats.org/officeDocument/2006/relationships/notesSlide" Target="/ppt/notesSlides/notesSlide12.xml" Id="Rc00b8f50d9c44c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a7b1957f14139" /><Relationship Type="http://schemas.openxmlformats.org/officeDocument/2006/relationships/notesSlide" Target="/ppt/notesSlides/notesSlide13.xml" Id="R53ea40005db54f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7233b1e8a44aa" /><Relationship Type="http://schemas.openxmlformats.org/officeDocument/2006/relationships/notesSlide" Target="/ppt/notesSlides/notesSlide14.xml" Id="R4af5a28464954b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9eb8b1ad49af" /><Relationship Type="http://schemas.openxmlformats.org/officeDocument/2006/relationships/image" Target="/ppt/media/image3.png" Id="R606c38460aea4f12" /><Relationship Type="http://schemas.openxmlformats.org/officeDocument/2006/relationships/notesSlide" Target="/ppt/notesSlides/notesSlide15.xml" Id="R0fbe688a70ad42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7ea171c5f49d6" /><Relationship Type="http://schemas.openxmlformats.org/officeDocument/2006/relationships/notesSlide" Target="/ppt/notesSlides/notesSlide16.xml" Id="R5b069f9b749341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302f64f4d4834" /><Relationship Type="http://schemas.openxmlformats.org/officeDocument/2006/relationships/image" Target="/ppt/media/image4.png" Id="R2bc1c9acdf234f77" /><Relationship Type="http://schemas.openxmlformats.org/officeDocument/2006/relationships/notesSlide" Target="/ppt/notesSlides/notesSlide17.xml" Id="Raaa81be338c34b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114637b94345" /><Relationship Type="http://schemas.openxmlformats.org/officeDocument/2006/relationships/notesSlide" Target="/ppt/notesSlides/notesSlide18.xml" Id="R15b38b67845b49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f0e0560684641" /><Relationship Type="http://schemas.openxmlformats.org/officeDocument/2006/relationships/notesSlide" Target="/ppt/notesSlides/notesSlide19.xml" Id="Rfeea900a8ee942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358828fdf4257" /><Relationship Type="http://schemas.openxmlformats.org/officeDocument/2006/relationships/notesSlide" Target="/ppt/notesSlides/notesSlide20.xml" Id="R18678cf1c87045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5d7c5da744b90" /><Relationship Type="http://schemas.openxmlformats.org/officeDocument/2006/relationships/notesSlide" Target="/ppt/notesSlides/notesSlide21.xml" Id="Rf6193d8b98d946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d5e7a9244b39" /><Relationship Type="http://schemas.openxmlformats.org/officeDocument/2006/relationships/notesSlide" Target="/ppt/notesSlides/notesSlide22.xml" Id="R40f0aaa961d14f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620dbb74f4ad7"/>
          <a:srcRect xmlns:a="http://schemas.openxmlformats.org/drawingml/2006/main" l="25194" t="0" r="251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3C450-E0BB-4905-90A5-F74C5B2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10C17-98DC-4B4C-B09C-576547E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D0A99-5349-4087-A0CF-E44950D9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Raspberry Pi 5</a:t>
            </a:r>
          </a:p>
          <a:p xmlns:a="http://schemas.openxmlformats.org/drawingml/2006/main"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OpenCV</a:t>
            </a:r>
          </a:p>
          <a:p xmlns:a="http://schemas.openxmlformats.org/drawingml/2006/main"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自走車完整實作 SOP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2C564-7973-474F-8937-5B3B386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從環境建置與單張偵測，完成 USB 攝影機、車道線、NCNN、Flask 與板端驗收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F594C-E67C-4926-8191-771FC3E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教材整合版  2026 09 28</a:t>
            </a:r>
          </a:p>
        </p:txBody>
      </p:sp>
    </p:spTree>
    <p:extLst>
      <p:ext uri="{BB962C8B-B14F-4D97-AF65-F5344CB8AC3E}">
        <p14:creationId xmlns:p14="http://schemas.microsoft.com/office/powerpoint/2010/main" val="771297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1CB64-8A98-4BE1-B14E-D4D47FC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56E32-477A-4024-BD74-E5A02459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課程導覽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9957A-2DBA-4FD2-ACBB-29B90BE0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完整實作路線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0FAD-8107-4E7F-82F7-6C4D15F4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3A2D8-CA93-45D2-A90F-141FF2C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468B-E35D-43AC-9B13-20510C5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795DA-F3D0-42FD-8DEC-132C149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前置檢查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60D09-12EB-4E01-B320-57252A7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供電、散熱、相機、I2C 與網路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1FFEE-3BAB-424D-81B7-7008CB05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ED545-F67A-4C6D-9D3B-815E15D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模型驗證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C4DF3-2B63-494A-82C9-FE70623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虛擬環境、YOLO26n 與單張圖片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19A6C-6A02-4DBE-80AD-27A69340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35EBA-45ED-4724-8D74-A82E572E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即時影像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D9A03-DA03-4C2B-9E49-BEE3298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USB Webcam 與安全釋放裝置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3EC5-74DD-4114-9397-2A9B96E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11463-BF9F-4894-98BA-173F926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車道線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C627A-DB03-4836-9709-B4607A50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29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OpenCV a1 到 a9 與中心誤差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70E5F-9081-4615-BBD9-D0399323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4262E-138B-439C-8E29-38E40160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邊緣部署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D4D75-FDC0-4414-9AC3-3414168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NCNN、Flask、WinSCP 與 systemd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FBCDA-02B8-4C0E-88C1-0B0BDC83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67DD7-84FD-4F5D-8986-410A5656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板端驗收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95A7D-86D3-40CD-B66E-53E4EB5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日誌、效能、溫度與低速落地測試</a:t>
            </a:r>
          </a:p>
        </p:txBody>
      </p:sp>
    </p:spTree>
    <p:extLst>
      <p:ext uri="{BB962C8B-B14F-4D97-AF65-F5344CB8AC3E}">
        <p14:creationId xmlns:p14="http://schemas.microsoft.com/office/powerpoint/2010/main" val="1202940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ABEEC-C153-4560-B5C4-E2AD2083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1189-1ABF-434B-9C1E-56D757AC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230A2-D4B5-49D5-B5BE-6BCAC85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影像與控制資料流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9FD17-7AA3-4341-B1F2-AD43AAB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39C0D-5E55-4943-9561-839E582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b2a82467342ed"/>
          <a:stretch xmlns:a="http://schemas.openxmlformats.org/drawingml/2006/main"/>
        </p:blipFill>
        <p:spPr>
          <a:xfrm xmlns:a="http://schemas.openxmlformats.org/drawingml/2006/main">
            <a:off x="5810250" y="2237582"/>
            <a:ext cx="5715000" cy="26781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CD42F-00F3-43A4-87E2-4C65CDB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OpenCV 從攝影機取得同一張 frame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產生物件框與類別結果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車道演算法輸出 lane_error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Flask 將 JPEG 連續封裝成 MJPEG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控制指令與影像串流採獨立通道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5EF62-1F8B-41AD-A065-029255E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安全原則：影像逾時、車道信心不足或辨識到停止條件時，控制程式必須停止輸出。</a:t>
            </a:r>
          </a:p>
        </p:txBody>
      </p:sp>
    </p:spTree>
    <p:extLst>
      <p:ext uri="{BB962C8B-B14F-4D97-AF65-F5344CB8AC3E}">
        <p14:creationId xmlns:p14="http://schemas.microsoft.com/office/powerpoint/2010/main" val="1507712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37B8A-FFE4-4CC7-A31C-E39A5FA0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6D6E5-4475-472B-81D6-64E146B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B09C-C3F6-4913-A715-687DAAC8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安全與硬體前置檢查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7543-C8D3-498B-BEBB-893CAA3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ED0DE-A10E-4F90-9F19-A11C0FE8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D2297-3C85-4FC1-8F94-1E1E211D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先完成靜態檢查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4DE0B-DD45-4171-BC96-CE11A51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5095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官方 27 W 或同等穩定供電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主動散熱並監看溫度與熱節流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馬達使用獨立電源，與 Pi 共地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第一次測試必須架空車輪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STOP、watchdog 與手控方向先通過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A49D1-3E97-4B82-87D9-B34CA18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硬體與網路檢查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9FC08-6F62-4ED7-8945-D034A2C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49530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06301-A001-4B7D-A0E6-23C45D3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6101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raspi-config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apt install -y i2c-tools v4l-utils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i2cdetect -y 1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v4l2-ctl --list-devices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ls -l /dev/video*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hostname -I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D1AC7-2F43-4E25-B94B-8BA5A14B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通過條件：I2C 表格可看到 0x40，相機可列出並取像，Windows 可用 SSH 登入。</a:t>
            </a:r>
          </a:p>
        </p:txBody>
      </p:sp>
    </p:spTree>
    <p:extLst>
      <p:ext uri="{BB962C8B-B14F-4D97-AF65-F5344CB8AC3E}">
        <p14:creationId xmlns:p14="http://schemas.microsoft.com/office/powerpoint/2010/main" val="2128772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1D400-4E2E-4FBA-82D1-141F241C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8D7D2-AC97-480D-8098-25E9CD4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1779F-B14C-4310-B4E3-C45C7739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系統更新與虛擬環境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BBCF9-5BC2-4883-919A-91FDE6EF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18B6-9406-4C3C-A4D0-E51D8AD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CC067-0077-4013-B74B-675EC63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905625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7FD02-BBDD-44F9-B3AE-A54F1AB9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6562725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apt update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apt full-upgrade -y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apt install -y python3-venv python3-pip \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python3-opencv libcamera-apps v4l-utils git unzip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reboot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mkdir -p ~/yolo26_lab &amp;&amp; cd ~/yolo26_lab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python3 -m venv --system-site-packages .venv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source .venv/bin/activate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-m pip install --upgrade pip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-m pip install ultralytics flask ncnn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EA291-FB0E-41A2-BC13-E4FFD5BE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套件聯合測試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F47A6-D4A2-440F-B0F8-FFD64531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205C0-9643-4138-8FC4-EC45438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1813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- &lt;&lt;'PY'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cv2, numpy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ultralytics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flask import Flask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print(cv2.__version__)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print(numpy.__version__)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print(ultralytics.__version__)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print("Runtime READY")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DFFFB-16B1-46F7-90E3-E96BDBBE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CSI Camera 需要 system site packages 才能存取 apt 安裝的 Picamera2。USB Webcam 只用 OpenCV 時也可建立一般 venv。</a:t>
            </a:r>
          </a:p>
        </p:txBody>
      </p:sp>
    </p:spTree>
    <p:extLst>
      <p:ext uri="{BB962C8B-B14F-4D97-AF65-F5344CB8AC3E}">
        <p14:creationId xmlns:p14="http://schemas.microsoft.com/office/powerpoint/2010/main" val="427025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CEC68-DB00-4DC1-ADE4-F4C2568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5B028-7D70-4E15-BA43-E6C3BE0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CEB81-8A12-43F2-BD1D-8239A1D9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模型選擇與載入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2DD16-E1A8-499F-B854-567E6286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2B3E-BA62-402C-AF1B-A558441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19A2F-FC80-43A1-BC83-658D2B9A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建議起點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7204B-8D46-48BD-B9B6-31CB598D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yolo26n.pt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0E089-B2E2-4FCD-B7B1-DB2A65E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先用官方權重確認環境與流程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自訂 best.pt 用於交通號誌或校園場景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分割需求才改用 yolo26n-seg.pt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72C36-884C-4C06-B10A-D50A089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09587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03BDE-E1F4-4FCB-8B9A-98B714F3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4752975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ultralytics import YOLO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model = YOLO("yolo26n.pt")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results = model.predict(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source="images/test.jpg",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imgsz=640, conf=0.35,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device="cpu"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95195-CBFF-459B-B7CB-C3BA608E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第一次執行會下載權重。Pi 無法連線時，先在 Windows 下載，再以 WinSCP 傳入 models 目錄。</a:t>
            </a:r>
          </a:p>
        </p:txBody>
      </p:sp>
    </p:spTree>
    <p:extLst>
      <p:ext uri="{BB962C8B-B14F-4D97-AF65-F5344CB8AC3E}">
        <p14:creationId xmlns:p14="http://schemas.microsoft.com/office/powerpoint/2010/main" val="73410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34F35-0CB4-4302-BDB7-EA26600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5362-B595-4F7E-9826-31D28A3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FB6B5-7DE6-481D-9765-0A73B287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單張圖片偵測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36F28-EB2C-4512-915F-C70F82A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4370E-0562-4939-81DB-BC4D86C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3AA08-B950-45A0-A63B-2578AC8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000875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D1881-4FBC-4160-9C43-06A7F51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6657975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ultralytics import YOLO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MODEL = "yolo26n.pt"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SOURCE = Path("images/test.jpg")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OUTPUT = Path("outputs/detect_result.jpg")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OUTPUT.parent.mkdir(parents=True, exist_ok=True)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model = YOLO(MODEL)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model.predict(str(SOURCE), imgsz=640,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   conf=0.35, device="cpu")[0]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not cv2.imwrite(str(OUTPUT), result.plot()):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raise RuntimeError("無法寫入輸出圖片")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D1087-4F06-42F4-86E1-9CC81167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執行與判讀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14241-3CE9-4DF1-8C64-E500803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3571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32F89-40A7-4DCF-B121-DD12B59A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289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mkdir -p images outputs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detect_image.py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ls -lh outputs/detect_result.jpg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6C440-E32B-4A33-AD2A-9DCF9477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61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先降低 conf 或更換測試圖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核對自訂模型的 names 與 YAML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SSH 環境使用輸出檔或 Flask</a:t>
            </a:r>
          </a:p>
        </p:txBody>
      </p:sp>
    </p:spTree>
    <p:extLst>
      <p:ext uri="{BB962C8B-B14F-4D97-AF65-F5344CB8AC3E}">
        <p14:creationId xmlns:p14="http://schemas.microsoft.com/office/powerpoint/2010/main" val="1464359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F5982-0389-4849-87DC-36263DF1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30790-E8DA-4C85-B2E4-CB98BB5D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06F57-1637-4661-91A8-8CFAFF7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USB 攝影機即時偵測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1EC99-D0E4-4024-B126-039B7DC1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59645-078A-411A-A416-3A16BE79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018E0-DFC2-471E-BC74-4F524B9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085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BAFCE-B6FC-41A6-A94C-A1D1C5FC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51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systemctl stop autocar.service 2&gt;/dev/null || true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v4l2-ctl --list-devices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fuser -v /dev/video* 2&gt;/dev/null ||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29CA0-3737-42D1-8B52-935BFA01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0008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F3ADB-3995-43A3-A76C-2CA19F6D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6657975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 = cv2.VideoCapture(0, cv2.CAP_V4L2)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cap.set(cv2.CAP_PROP_FRAME_WIDTH, 640)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cap.set(cv2.CAP_PROP_FRAME_HEIGHT, 480)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try: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True: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ok, frame = cap.read()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not ok: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continue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model.predict(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frame, imgsz=640, conf=0.35,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device="cpu", verbose=False)[0]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cv2.imshow("YOLO26 USB", result.plot())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cv2.waitKey(1) &amp; 0xFF == ord("q"):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finally: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cap.release()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cv2.destroyAllWindows()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1FE5F-ADF3-461F-A2F8-2CB7B53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90850"/>
            <a:ext cx="3476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索引依序測試 0、1、2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同一時間只允許一個相機程序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按 q 後必須釋放攝影機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無桌面環境改用 Flask 串流</a:t>
            </a:r>
          </a:p>
        </p:txBody>
      </p:sp>
    </p:spTree>
    <p:extLst>
      <p:ext uri="{BB962C8B-B14F-4D97-AF65-F5344CB8AC3E}">
        <p14:creationId xmlns:p14="http://schemas.microsoft.com/office/powerpoint/2010/main" val="1439202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305C9A-1462-45F8-BFBA-76A659E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8BC8B-52FD-4D4D-A0F5-AE907A2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568B-26DE-4486-A0BB-A3F598B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OpenCV 車道線 a1 到 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62A15-ADE7-42F8-8BCB-12B23AE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98EF7-3B0B-4E56-B745-F2D8EEE5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95FA5-A1AC-4BEC-9C6E-9E3278A6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影像前處理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876F2-3E2A-4563-BC29-B0D158C2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27AA8-C4EE-43E2-B9E9-369C0452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57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讀取與縮放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DC6DF-B350-43D6-A538-6BC14C38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43E4F-CDF6-4B2B-BC19-549E212A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灰階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32A11-D5E1-49E3-9679-44FF4BC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EC1B-2E03-49C8-8B28-46672CF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高斯模糊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B05E6-3A9A-4DE5-B911-50CA3E2A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14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0E091-6610-47F0-BD59-9D87EBED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Canny 邊緣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A5DBF-78E4-4AE6-8042-9C239F2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19513-A8C1-4BD6-BC3D-57081E1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ROI 遮罩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D57E5-96F7-4F4C-8C1F-549A4023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線段與幾何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7FC00-96CE-425B-9070-DD4A80D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24CEE-FA65-4AC0-9E05-DED5BCC3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HoughLinesP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28C3D-1830-4909-85F0-558F6319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8F251-6890-4EF1-BB2B-C52816F3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斜率分群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85AD8-A87E-4C24-A166-E92D3476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89F79-E185-41BE-B490-C399ED0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平均延伸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AFA44-7542-4E5A-94F1-88ABE572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a9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8B930-05CD-4034-A670-072251E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疊圖與中心誤差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F8030-795C-496E-B79C-7E2067DB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同一張 road.jpg 逐步輸出，每完成一階段就檢查影像，再進入下一階段。</a:t>
            </a:r>
          </a:p>
        </p:txBody>
      </p:sp>
    </p:spTree>
    <p:extLst>
      <p:ext uri="{BB962C8B-B14F-4D97-AF65-F5344CB8AC3E}">
        <p14:creationId xmlns:p14="http://schemas.microsoft.com/office/powerpoint/2010/main" val="116555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1C6CF-586B-4811-904D-C48838B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4B9AA-5D0C-410C-AF17-8797B03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4D3D3-EFC7-44FD-A968-26F7DBE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車道線前處理 a1 到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E6565-F06A-40D1-96D9-51D02B1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EE723-893D-4878-97C9-8E5F3F99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6909D-0061-4BC7-92C4-02117860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76275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C8FBC-0590-4D79-A898-1FDA7218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6419850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frame = cv2.imread("images/road.jpg")        # a1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frame = cv2.resize(frame, (640, 480))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gray = cv2.cvtColor(frame, cv2.COLOR_BGR2GRAY) # a2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blur = cv2.GaussianBlur(gray, (5, 5), 0)       # a3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edges = cv2.Canny(blur, 50, 150)              # a4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h, w = edges.shape[:2]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polygon = np.array([[(0, h),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(int(w*0.42), int(h*0.58)),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(int(w*0.58), int(h*0.58)), (w, h)]])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 = np.zeros_like(edges)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cv2.fillPoly(mask, polygon, 255)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cropped = cv2.bitwise_and(edges, mask)         # a5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FAE4A-F012-436A-B7E4-46893A44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調參順序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F1CFE-3F67-4A73-91B8-2D72E5C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固定相機高度、俯角與解析度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先調 ROI 四點覆蓋前方路面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再調 Canny 低高門檻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儲存 a1 到 a5 逐張比較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4C2C7-93A6-4CD4-8BBF-5B15707B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9112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ROI 與門檻必須依教室跑道的視角、材質與顏色重新設定。</a:t>
            </a:r>
          </a:p>
        </p:txBody>
      </p:sp>
    </p:spTree>
    <p:extLst>
      <p:ext uri="{BB962C8B-B14F-4D97-AF65-F5344CB8AC3E}">
        <p14:creationId xmlns:p14="http://schemas.microsoft.com/office/powerpoint/2010/main" val="1769181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C04A9-A7E2-4FC2-B03B-73EC7A9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C1C89-D61D-42ED-9405-B5B6CDE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FF32B-9D2F-4978-BF3C-EB7BEEF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車道線段與中心誤差 a6 到 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68BA4-545B-4E74-B9D0-B838C63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51160-118D-4AC5-822C-C769D62C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3B99C-D18D-4D2D-A3D4-DD93F737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714375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C95C-A684-40AA-B053-338DC878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6800850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segments = cv2.HoughLinesP(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cropped, 1, np.pi/180, threshold=35,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minLineLength=35, maxLineGap=70)            # 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x1, y1, x2, y2 in segments[:, 0]: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slope = (y2 - y1) / (x2 - x1)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slope &lt; -0.35: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left.append((slope, y1 - slope*x1))    # a7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slope &gt; 0.35: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right.append((slope, y1 - slope*x1))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left_line = endpoints(left)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right_line = endpoints(right)                  # a8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cv2.addWeighted(frame, .80, overlay, 1, 0)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lane_center = int((left_line[0] + right_line[0]) / 2)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lane_error = lane_center - frame.shape[1] // 2 # a9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BCE4-A592-4269-A781-6FB3252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38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判讀重點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DE91D-1B21-427F-9E8B-5369DE7B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Hough 先找候選線段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斜率正負分出左右線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平均延伸降低畫面跳動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lane_error 僅提供控制器參考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2660E-F1A6-4545-9BFE-298C4B01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只找到單側線時先停車，不用推測補出另一側。</a:t>
            </a:r>
          </a:p>
        </p:txBody>
      </p:sp>
    </p:spTree>
    <p:extLst>
      <p:ext uri="{BB962C8B-B14F-4D97-AF65-F5344CB8AC3E}">
        <p14:creationId xmlns:p14="http://schemas.microsoft.com/office/powerpoint/2010/main" val="1842785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DA4BB-FB32-4172-A13D-9AC2F9B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BC286-703A-4883-BFB0-7FA157A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FB828-55F9-40F3-8A8A-874B744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與車道線疊合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C0B13-6349-49D1-A6E9-17A5BC6C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ACAE9-B476-493F-BBC8-64FE2B1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C8FC3-9B69-41C3-A035-EDF57C0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000875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3E17-CACA-42EF-AEA9-E20FB279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657975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process_frame(frame, model):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yolo_result = model.predict(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frame, imgsz=640, conf=0.35,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device="cpu", verbose=False)[0]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annotated = yolo_result.plot()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edges = cv2.Canny(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cv2.GaussianBlur(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cv2.cvtColor(frame, cv2.COLOR_BGR2GRAY),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(5, 5), 0), 50, 150)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lines = cv2.HoughLinesP(roi_mask(edges),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1, np.pi/180, 35, minLineLength=35,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maxLineGap=70)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left_line, right_line = fit_lane(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lines, frame.shape[1], frame.shape[0])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cv2.addWeighted(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annotated, .88, lane_layer, 1.0, 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C6C7A-1B2B-4E2A-BA17-A5AF3D0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實作規則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08DB0-A952-48E0-A227-56D36E7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667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攝影機每回合只讀一張 frame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 與車道演算法共用該 frame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先畫物件框，再疊加車道線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輸出畫面與控制數值分開處理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56FCE-6B3E-4214-B51D-1B3022A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控制介面只能接收已平滑並受安全限制的 lane_error。</a:t>
            </a:r>
          </a:p>
        </p:txBody>
      </p:sp>
    </p:spTree>
    <p:extLst>
      <p:ext uri="{BB962C8B-B14F-4D97-AF65-F5344CB8AC3E}">
        <p14:creationId xmlns:p14="http://schemas.microsoft.com/office/powerpoint/2010/main" val="962604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3E145-0CC9-4988-ABF4-B2DA95F6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B0162-2245-426C-A8EA-9027E2EF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0C6AD-2D9C-480E-B14F-CDD22EB2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控制層安全界線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20AE-71A2-4FDB-8693-75F7E55C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E63C9-9B0F-48C1-A8E2-D9B9426A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B4DD7-F001-44A3-A110-E58219C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允許輸出方向控制前，必須同時符合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AE-5DA1-4118-B022-7B48356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影像時間戳仍在允許範圍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左右車道線信心達到門檻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lane_error 已通過平滑與增益限制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未出現停止標誌或其他安全類別</a:t>
            </a:r>
          </a:p>
          <a:p xmlns:a="http://schemas.openxmlformats.org/drawingml/2006/main">
            <a:pPr marL="266700" indent="-127000">
              <a:spcAft>
                <a:spcPts val="1400"/>
              </a:spcAft>
              <a:buChar char="•"/>
              <a:def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watchdog 能在控制迴圈失聯時停止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DF68C-351E-45E1-AFE5-ECB6FB1A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33550"/>
            <a:ext cx="2524125" cy="252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 w="47625">
            <a:solidFill>
              <a:srgbClr val="79A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7214F-F36B-4379-92A4-B7AE43B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98D81-0CB8-4924-8306-975FA640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任何條件不成立</a:t>
            </a:r>
          </a:p>
          <a:p xmlns:a="http://schemas.openxmlformats.org/drawingml/2006/main">
            <a:pPr>
              <a:defRPr sz="18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立即停止馬達輸出</a:t>
            </a:r>
          </a:p>
        </p:txBody>
      </p:sp>
    </p:spTree>
    <p:extLst>
      <p:ext uri="{BB962C8B-B14F-4D97-AF65-F5344CB8AC3E}">
        <p14:creationId xmlns:p14="http://schemas.microsoft.com/office/powerpoint/2010/main" val="8579071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95CDB-B47B-45C8-BCD7-C2E0799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CDF7-DA80-4FFB-8F72-681FABDC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6A20B-309A-4FDF-BDF2-2C3443A2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NCNN 匯出與測試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B181A-C5B4-475D-9CD6-E042776D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484EA-FD5C-414D-9581-CC06CB2E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D69FF-FEE9-4ABE-9EC9-D2B27B1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04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D857-FB0B-4975-8039-E41B39D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67056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source ~/yolo26_lab/.venv/bin/activate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yolo predict model=yolo26n.pt source=images/test.jpg device=cpu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yolo export model=yolo26n.pt format=ncnn \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imgsz=640 batch=1 device=cpu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yolo predict \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model=yolo26n_ncnn_model \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source=images/test.jpg \</a:t>
            </a:r>
          </a:p>
          <a:p xmlns:a="http://schemas.openxmlformats.org/drawingml/2006/main">
            <a:pPr>
              <a:defRPr sz="142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imgsz=640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D0694-8621-4A97-97E1-D3E74304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檢查四件事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CC48F-B074-4E1D-BAF7-91B2B9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619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模型路徑指向完整目錄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metadata.yaml、param 與 bin 都存在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推論 imgsz 等於匯出尺寸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正式 venv 能 import ncnn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9D7CB-B9C6-4285-BA16-DDBAD2FC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改成 320 時必須重新匯出 320 模型。只改檔名或推論參數不會改變固定輸入形狀。</a:t>
            </a:r>
          </a:p>
        </p:txBody>
      </p:sp>
    </p:spTree>
    <p:extLst>
      <p:ext uri="{BB962C8B-B14F-4D97-AF65-F5344CB8AC3E}">
        <p14:creationId xmlns:p14="http://schemas.microsoft.com/office/powerpoint/2010/main" val="205087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5D2FD-322E-4E75-B452-A56FB52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D0B4D-88A4-402B-BEE0-E3695D4A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B645A-723A-4338-ACAC-AFE56CF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Flask MJPEG 串流原理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CB85D-5F02-4793-B755-9FF1E93B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03D07-7C40-4038-A063-FB75E96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38460aea4f12"/>
          <a:stretch xmlns:a="http://schemas.openxmlformats.org/drawingml/2006/main"/>
        </p:blipFill>
        <p:spPr>
          <a:xfrm xmlns:a="http://schemas.openxmlformats.org/drawingml/2006/main">
            <a:off x="6191250" y="2335385"/>
            <a:ext cx="5238750" cy="252060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68798-E111-43B4-BA97-9357B7D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後端循環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B8D54-BD9F-4B95-B17C-FF42A293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讀取攝影機 frame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執行 YOLO26 或整合後處理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以 cv2.imencode 轉成 JPEG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以 multipart 邊界持續送出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瀏覽器 img 標籤顯示 video_feed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E51C9-BAA1-4D5B-81A3-064F22B5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控制請求與影像串流分開，按鈕動作不會重新載入整個頁面。</a:t>
            </a:r>
          </a:p>
        </p:txBody>
      </p:sp>
    </p:spTree>
    <p:extLst>
      <p:ext uri="{BB962C8B-B14F-4D97-AF65-F5344CB8AC3E}">
        <p14:creationId xmlns:p14="http://schemas.microsoft.com/office/powerpoint/2010/main" val="115080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F68FB-114A-4E96-88E4-05142E0A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19FD-052F-4D51-AAA4-07ADB87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AC722-348D-4274-AEE7-C2DE957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Flask 後端與網頁程式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A9A82-3BBA-4819-9796-BC254EB2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4887B-A962-43E1-A773-6C5349C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5C764-7095-4093-A8FD-11160234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000875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D8665-7D36-4576-87C0-FAD7633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657975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model = YOLO("yolo26n_ncnn_model")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cap = cv2.VideoCapture(0, cv2.CAP_V4L2)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frames():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True: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ok, frame = cap.read()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not ok: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continue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view = model.predict(frame, imgsz=640,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conf=0.35, verbose=False)[0].plot()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ok, jpg = cv2.imencode(".jpg", view,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[cv2.IMWRITE_JPEG_QUALITY, 80])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ok: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yield b"--frame\r\nContent-Type: image/jpeg\r\n\r\n" + jpg.tobytes() + b"\r\n"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74C1B-5002-47CF-B819-9FD6D110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0495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2E58C-47FD-4CCB-846D-996F5969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38300"/>
            <a:ext cx="33718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index():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render_template("index.html")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@app.get("/video_feed")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video_feed():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Response(frames(), mimetype=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"multipart/x-mixed-replace; boundary=frame")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app.run(host="0.0.0.0", port=5000,</a:t>
            </a:r>
          </a:p>
          <a:p xmlns:a="http://schemas.openxmlformats.org/drawingml/2006/main">
            <a:pPr>
              <a:defRPr sz="1275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threaded=True)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BED2D-3011-44BC-B4D0-C4915A0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6F2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D6F2E"/>
                </a:solidFill>
                <a:latin typeface="Consolas"/>
                <a:ea typeface="Consolas"/>
                <a:cs typeface="Consolas"/>
              </a:rPr>
              <a:t>&lt;img src="{{ url_for('video_feed') }}"</a:t>
            </a:r>
          </a:p>
          <a:p xmlns:a="http://schemas.openxmlformats.org/drawingml/2006/main">
            <a:pPr>
              <a:defRPr sz="1350" b="1">
                <a:solidFill>
                  <a:srgbClr val="4D6F2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D6F2E"/>
                </a:solidFill>
                <a:latin typeface="Consolas"/>
                <a:ea typeface="Consolas"/>
                <a:cs typeface="Consolas"/>
              </a:rPr>
              <a:t>     alt="YOLO26 即時影像"&gt;</a:t>
            </a:r>
          </a:p>
        </p:txBody>
      </p:sp>
    </p:spTree>
    <p:extLst>
      <p:ext uri="{BB962C8B-B14F-4D97-AF65-F5344CB8AC3E}">
        <p14:creationId xmlns:p14="http://schemas.microsoft.com/office/powerpoint/2010/main" val="13470129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86884-C349-4C44-B782-C2CC9E4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4606A-5849-4374-86D8-EF2D365F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2A795-04B7-4219-BFA4-0D88457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瀏覽器驗證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32C30-FCEF-4791-94A0-DAB9E9B1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EB397-AB6B-4FC8-977E-08F60F3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1c9acdf234f77"/>
          <a:stretch xmlns:a="http://schemas.openxmlformats.org/drawingml/2006/main"/>
        </p:blipFill>
        <p:spPr>
          <a:xfrm xmlns:a="http://schemas.openxmlformats.org/drawingml/2006/main">
            <a:off x="552450" y="1723209"/>
            <a:ext cx="7429500" cy="40592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9ED86-E354-4623-A6F4-62EFBABB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95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A361A-C870-4D8E-8E6F-80D57ACF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43100"/>
            <a:ext cx="27527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flask_yolo.py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同一區網瀏覽器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http://&lt;Pi-IP&gt;:5000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520EA-AD67-4CB3-AD11-95F0BD0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381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影像會持續更新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另一台裝置可開啟網址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關閉程式後相機能再次開啟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控制按鈕不應中斷影像串流</a:t>
            </a:r>
          </a:p>
        </p:txBody>
      </p:sp>
    </p:spTree>
    <p:extLst>
      <p:ext uri="{BB962C8B-B14F-4D97-AF65-F5344CB8AC3E}">
        <p14:creationId xmlns:p14="http://schemas.microsoft.com/office/powerpoint/2010/main" val="2044550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655F4-4431-4F76-B41F-6A3A02C6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518EA-3D49-49CB-AD2A-0537D80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6C155-8424-4DA4-B790-24CEF9A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WinSCP 傳檔與目錄規則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59F9-8B4B-4AEC-8B4E-EC1339D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F30F0-8915-41A8-94C1-96F02D05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27099-5C39-414C-B142-EC47C9A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WinSCP SFTP 設定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AD03D-60FF-48F8-822B-C84F2F8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90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Host name</a:t>
            </a:r>
          </a:p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Port</a:t>
            </a:r>
          </a:p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User name</a:t>
            </a:r>
          </a:p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Remote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B160B-7F02-45A2-8049-E2EB25C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Pi 的 IPv4 位址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rpi5 或實際帳號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/home/rpi5/yolo26_lab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DE6A0-BFB4-48AC-87C8-48513A67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4714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CCD7A-A9EA-482E-B212-33AFAE8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43719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Windows PowerShell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scp -r .\yolo26_lab rpi5@&lt;Pi-IP&gt;:/home/rpi5/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Raspberry Pi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ssh rpi5@&lt;Pi-IP&gt;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cd ~/yolo26_lab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source .venv/bin/activate</a:t>
            </a:r>
          </a:p>
          <a:p xmlns:a="http://schemas.openxmlformats.org/drawingml/2006/main"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python flask_yolo.py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18A41-DDA6-4E8B-B850-785782C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不要直接拖曳到 /opt。先傳到家目錄，再用 sudo 安裝。完整 AutoCAR 程式包由 install_pi.sh 安裝到 /opt/autocar。</a:t>
            </a:r>
          </a:p>
        </p:txBody>
      </p:sp>
    </p:spTree>
    <p:extLst>
      <p:ext uri="{BB962C8B-B14F-4D97-AF65-F5344CB8AC3E}">
        <p14:creationId xmlns:p14="http://schemas.microsoft.com/office/powerpoint/2010/main" val="9369800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88412-F93E-495C-A183-51AF2F2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C9FA5-36D2-47C5-98C0-1632736E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9C742-C7CF-44ED-92FD-9EFA4656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systemd 服務與日誌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E6B40-13FF-4E33-B409-FE199A7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C3BE-CB38-4B61-A569-31FD2EB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7D632-F71E-4414-8442-DF673BDA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6762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83393-7A08-4E36-BBDB-D292EFA6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419850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systemctl daemon-reload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systemctl enable --now autocar.service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systemctl status autocar.service --no-pager</a:t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journalctl -u autocar.service -n 100 --no-pager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curl -s http://127.0.0.1:8000/api/status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E8881-1E88-4EC8-AA05-7146C917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運行規則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6172B-28BF-4ACB-BE77-78CE0AF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重開機後服務要自動啟動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日誌不能持續重複同一錯誤</a:t>
            </a:r>
          </a:p>
          <a:p xmlns:a="http://schemas.openxmlformats.org/drawingml/2006/main">
            <a:pPr marL="266700" indent="-127000">
              <a:spcAft>
                <a:spcPts val="11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API status 應回傳可解析資料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2A32C-734D-49E8-9D3A-FE2353D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正式服務運行時，不要同時啟動 detect_usb_camera.py、flask_yolo.py、camera_test.py 或其他相機程序。</a:t>
            </a:r>
          </a:p>
        </p:txBody>
      </p:sp>
    </p:spTree>
    <p:extLst>
      <p:ext uri="{BB962C8B-B14F-4D97-AF65-F5344CB8AC3E}">
        <p14:creationId xmlns:p14="http://schemas.microsoft.com/office/powerpoint/2010/main" val="20403915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52D29-C954-42CC-800D-803876C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E69CD-4EAE-4DE9-993B-FF62513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6B982-426A-40A5-AE32-A22E0A1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常見問題與處理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A2989-DF96-4031-B4D2-4886D12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36799-6CB2-40B8-BB30-D08AE17D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C2339-AD97-473A-8DA0-A6317BC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1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1CE91-7071-4F6A-B367-ACFB9560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Device or resource busy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2A4B3-E599-4572-BF84-789D9AE3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停止服務，用 fuser 查 PID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0B688-EE0D-4C96-9BA2-CE9A4D1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No module named ncnn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EA30A-0976-4A67-8E7C-E20D183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切到正式 venv 後重新安裝與測試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39542-0945-4926-95DA-A4D9481E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1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7B565-7F5F-46D4-97FE-0BD8C46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Qt xcb 錯誤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C17B8-6924-4B3D-8875-CE78A85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03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SSH 環境改用輸出檔或 Flask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F3C21-4D61-498B-85A9-EAAFFCB8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NCNN input 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5C4A9-5E91-4BE0-B642-DE4D2F25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模型目錄與 imgsz 同時修正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2F7B0-6D9F-4DFF-9CE3-E45EF0C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1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8798-B1B7-4F57-8523-AFEF3D1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網頁有畫面但 0 FPS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5451C-25C3-4C09-BB79-2EDB8CF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檢查模型路徑、runtime 與權限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AB3AD-F00B-49CD-B0D9-61D45E4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Pi 重開或失聯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D28FF-DACD-4A81-A356-4A0C4EA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435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檢查低電壓、熱節流、OOM 與馬達突波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0F710-473B-4267-95E9-7D5119F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81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3CAE2-E3B2-475C-9448-BFB322CD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679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fuser -v /dev/video* /dev/media* 2&gt;/dev/null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journalctl -u autocar.service -n 200 --no-pager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vcgencmd measure_temp &amp;&amp; vcgencmd get_throttled</a:t>
            </a:r>
          </a:p>
          <a:p xmlns:a="http://schemas.openxmlformats.org/drawingml/2006/main">
            <a:pPr>
              <a:defRPr sz="12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free -h &amp;&amp; df -h /</a:t>
            </a:r>
          </a:p>
        </p:txBody>
      </p:sp>
    </p:spTree>
    <p:extLst>
      <p:ext uri="{BB962C8B-B14F-4D97-AF65-F5344CB8AC3E}">
        <p14:creationId xmlns:p14="http://schemas.microsoft.com/office/powerpoint/2010/main" val="9646133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261F-3223-4ACA-BFA0-57D580F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D6954-45D4-4406-AC0B-FC42EB7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27AB9-819F-4627-880A-8396805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依序驗收與交付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650B8-B109-4E06-BBF5-9AA016C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A58C7-B72F-4522-A2D5-B8EB26F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06596-DB46-49E4-A9DB-8E28A89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軟體驗收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B2238-E6BB-4600-AD32-342D060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91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compileall 完成語法檢查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單張圖片能輸出偵測結果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a1 到 a9 輸出存在且方向合理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與車道線在同一畫面疊合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NCNN 單張推論成功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Flask 可由另一台裝置開啟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9ABA8-4AA3-4C27-8C0D-D1F7138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板端交付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2179F-586B-435A-B818-0439CB6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系統版本、IP、相機索引與套件版本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來源圖、偵測結果與車道各階段影像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完整 NCNN 模型目錄與 metadata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可連線網址與瀏覽器畫面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至少一項問題的原因、命令與結果</a:t>
            </a:r>
          </a:p>
          <a:p xmlns:a="http://schemas.openxmlformats.org/drawingml/2006/main">
            <a:pPr marL="266700" indent="-127000">
              <a:spcAft>
                <a:spcPts val="1200"/>
              </a:spcAft>
              <a:buChar char="•"/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低速落地測試前的 STOP 與 watchdog 紀錄</a:t>
            </a:r>
          </a:p>
        </p:txBody>
      </p:sp>
    </p:spTree>
    <p:extLst>
      <p:ext uri="{BB962C8B-B14F-4D97-AF65-F5344CB8AC3E}">
        <p14:creationId xmlns:p14="http://schemas.microsoft.com/office/powerpoint/2010/main" val="13945313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A4D9F-C4F2-4DAB-AF6D-4DEA2DCF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E687-ED39-46A1-AFCA-67D8380F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7CF18-134D-4AAC-BA2C-87195EB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最終板端驗收紀錄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063B4-C2DC-4072-A5FB-905C9FA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3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4BF4B-A5E8-49D3-BB81-FD126E1D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C9BB-488B-40D6-9543-8D21B4C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請在 Raspberry Pi 5 實機填寫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6DF4B-8923-4236-A101-B068AC29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7F104-75DA-4B25-BBB9-7C25ACB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F5323-E2C5-4D83-BF30-FC17C935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Pi 型號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3223A-DBCE-46B3-A69D-7E91EFD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0325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9C1D-67C9-4DFA-A791-4CDC952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相機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EBD9B-F559-4A31-AF9B-276A5DD3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B18EC-CC88-4D47-A30A-1681FD2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模型與尺寸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CDDB8-28D1-46E7-A975-6F354047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5AD9E-A6E4-4524-9C80-0524B0DB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平均 FPS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BE722-71B6-49AB-8ACE-957A682A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938AA-3D5F-48FE-8A54-C868792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最高溫度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23382-A6C4-4FBD-A058-2FCF3F76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95825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0A49A-F91F-41BD-8AEF-68E925BB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結果與備註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2692A-11A4-4CDE-A90D-82C034A9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B3859-C76F-480E-9E55-58E828F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目前已驗證：文件結構、Python 語法與 OpenCV 合成影像流程。仍需板端驗證：YOLO26 推論速度、USB 攝影機索引、散熱、供電與馬達方向。</a:t>
            </a:r>
          </a:p>
        </p:txBody>
      </p:sp>
    </p:spTree>
    <p:extLst>
      <p:ext uri="{BB962C8B-B14F-4D97-AF65-F5344CB8AC3E}">
        <p14:creationId xmlns:p14="http://schemas.microsoft.com/office/powerpoint/2010/main" val="1479723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2026-09-27T21:35:28.6310000Z</dcterms:created>
  <dcterms:modified xsi:type="dcterms:W3CDTF">2026-09-27T21:35:28.6310000Z</dcterms:modified>
</coreProperties>
</file>